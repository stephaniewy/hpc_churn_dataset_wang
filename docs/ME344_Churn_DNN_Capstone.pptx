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39"/>
    <p:restoredTop sz="94631"/>
  </p:normalViewPr>
  <p:slideViewPr>
    <p:cSldViewPr snapToGrid="0">
      <p:cViewPr varScale="1">
        <p:scale>
          <a:sx n="83" d="100"/>
          <a:sy n="83" d="100"/>
        </p:scale>
        <p:origin x="200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A8AB9-0662-B548-B532-14ECD6E05105}" type="datetimeFigureOut">
              <a:rPr kumimoji="1" lang="zh-CN" altLang="en-US" smtClean="0"/>
              <a:t>2026/8/13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2ED8C-4996-6548-92C8-79129EACE53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252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87376"/>
            <a:ext cx="9533744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Churn DNN Creates a Large Infrastructure Question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275236" y="2349501"/>
            <a:ext cx="8479020" cy="70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50" b="1" i="1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backend is practical for a fixed JAX/XLA telecom workload?</a:t>
            </a:r>
            <a:endParaRPr lang="en-US" sz="2050" b="1" i="1" dirty="0"/>
          </a:p>
        </p:txBody>
      </p:sp>
      <p:sp>
        <p:nvSpPr>
          <p:cNvPr id="4" name="Shape 2"/>
          <p:cNvSpPr/>
          <p:nvPr/>
        </p:nvSpPr>
        <p:spPr>
          <a:xfrm>
            <a:off x="275236" y="3606006"/>
            <a:ext cx="2857429" cy="1381125"/>
          </a:xfrm>
          <a:prstGeom prst="rect">
            <a:avLst/>
          </a:prstGeom>
          <a:solidFill>
            <a:srgbClr val="D8F1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380308" y="3606006"/>
            <a:ext cx="2381190" cy="138112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199638" y="3608413"/>
            <a:ext cx="23188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→ 64 → 32 → 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19560" y="3971593"/>
            <a:ext cx="2318833" cy="119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MLP 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float32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256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epochs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2,600 timed steps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7684" y="6367462"/>
            <a:ext cx="1089632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684" y="6457950"/>
            <a:ext cx="2406639" cy="157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Stephanie Wang · Team ways-58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009090" y="6457950"/>
            <a:ext cx="2534922" cy="26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· NVIDIA GH200 · TPU v5e 2×4</a:t>
            </a:r>
            <a:endParaRPr lang="en-US" sz="1150" dirty="0"/>
          </a:p>
        </p:txBody>
      </p:sp>
      <p:sp>
        <p:nvSpPr>
          <p:cNvPr id="11" name="Kicker">
            <a:extLst>
              <a:ext uri="{FF2B5EF4-FFF2-40B4-BE49-F238E27FC236}">
                <a16:creationId xmlns:a16="http://schemas.microsoft.com/office/drawing/2014/main" id="{BCFE60DC-1C9D-7044-8A74-5B8B9B21F0F1}"/>
              </a:ext>
            </a:extLst>
          </p:cNvPr>
          <p:cNvSpPr txBox="1"/>
          <p:nvPr/>
        </p:nvSpPr>
        <p:spPr>
          <a:xfrm>
            <a:off x="0" y="1016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 b="1">
                <a:solidFill>
                  <a:srgbClr val="3D8DFF"/>
                </a:solidFill>
              </a:rPr>
              <a:t>ME344 · OPTION 1 CAPSTONE</a:t>
            </a:r>
            <a:endParaRPr lang="zh-CN" altLang="en-US" sz="1350" b="1">
              <a:solidFill>
                <a:srgbClr val="3D8DFF"/>
              </a:solidFill>
            </a:endParaRPr>
          </a:p>
        </p:txBody>
      </p:sp>
      <p:sp>
        <p:nvSpPr>
          <p:cNvPr id="12" name="RowsValue">
            <a:extLst>
              <a:ext uri="{FF2B5EF4-FFF2-40B4-BE49-F238E27FC236}">
                <a16:creationId xmlns:a16="http://schemas.microsoft.com/office/drawing/2014/main" id="{2E1825CD-D3B3-9B4D-AE09-F72281E889F6}"/>
              </a:ext>
            </a:extLst>
          </p:cNvPr>
          <p:cNvSpPr txBox="1"/>
          <p:nvPr/>
        </p:nvSpPr>
        <p:spPr>
          <a:xfrm>
            <a:off x="503836" y="3729831"/>
            <a:ext cx="2159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4600" b="1">
                <a:solidFill>
                  <a:srgbClr val="101318"/>
                </a:solidFill>
              </a:rPr>
              <a:t>5,000</a:t>
            </a:r>
            <a:endParaRPr lang="zh-CN" altLang="en-US" sz="4600" b="1">
              <a:solidFill>
                <a:srgbClr val="101318"/>
              </a:solidFill>
            </a:endParaRPr>
          </a:p>
        </p:txBody>
      </p:sp>
      <p:sp>
        <p:nvSpPr>
          <p:cNvPr id="13" name="RowsLabel">
            <a:extLst>
              <a:ext uri="{FF2B5EF4-FFF2-40B4-BE49-F238E27FC236}">
                <a16:creationId xmlns:a16="http://schemas.microsoft.com/office/drawing/2014/main" id="{A9902203-BEAA-6C4C-A8C6-0C57152E2351}"/>
              </a:ext>
            </a:extLst>
          </p:cNvPr>
          <p:cNvSpPr txBox="1"/>
          <p:nvPr/>
        </p:nvSpPr>
        <p:spPr>
          <a:xfrm>
            <a:off x="503836" y="4415631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700">
                <a:solidFill>
                  <a:srgbClr val="101318"/>
                </a:solidFill>
              </a:rPr>
              <a:t>customer rows</a:t>
            </a:r>
            <a:endParaRPr lang="zh-CN" altLang="en-US" sz="1700">
              <a:solidFill>
                <a:srgbClr val="101318"/>
              </a:solidFill>
            </a:endParaRPr>
          </a:p>
        </p:txBody>
      </p:sp>
      <p:sp>
        <p:nvSpPr>
          <p:cNvPr id="14" name="FeaturesValue">
            <a:extLst>
              <a:ext uri="{FF2B5EF4-FFF2-40B4-BE49-F238E27FC236}">
                <a16:creationId xmlns:a16="http://schemas.microsoft.com/office/drawing/2014/main" id="{65E98D0C-DA1C-0B41-9A61-8892033C33B2}"/>
              </a:ext>
            </a:extLst>
          </p:cNvPr>
          <p:cNvSpPr txBox="1"/>
          <p:nvPr/>
        </p:nvSpPr>
        <p:spPr>
          <a:xfrm>
            <a:off x="3615336" y="3729831"/>
            <a:ext cx="152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4600" b="1">
                <a:solidFill>
                  <a:srgbClr val="101318"/>
                </a:solidFill>
              </a:rPr>
              <a:t>16</a:t>
            </a:r>
            <a:endParaRPr lang="zh-CN" altLang="en-US" sz="4600" b="1">
              <a:solidFill>
                <a:srgbClr val="101318"/>
              </a:solidFill>
            </a:endParaRPr>
          </a:p>
        </p:txBody>
      </p:sp>
      <p:sp>
        <p:nvSpPr>
          <p:cNvPr id="15" name="FeaturesLabel">
            <a:extLst>
              <a:ext uri="{FF2B5EF4-FFF2-40B4-BE49-F238E27FC236}">
                <a16:creationId xmlns:a16="http://schemas.microsoft.com/office/drawing/2014/main" id="{C9038DAE-2826-FD47-906F-C45EB90F3277}"/>
              </a:ext>
            </a:extLst>
          </p:cNvPr>
          <p:cNvSpPr txBox="1"/>
          <p:nvPr/>
        </p:nvSpPr>
        <p:spPr>
          <a:xfrm>
            <a:off x="3615336" y="4415631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700">
                <a:solidFill>
                  <a:srgbClr val="101318"/>
                </a:solidFill>
              </a:rPr>
              <a:t>input features</a:t>
            </a:r>
            <a:endParaRPr lang="zh-CN" altLang="en-US" sz="1700">
              <a:solidFill>
                <a:srgbClr val="1013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3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523874"/>
            <a:ext cx="1219169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JAX/XLA Pipeline, Three Backends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7684" y="1504950"/>
            <a:ext cx="1809705" cy="111442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16318" y="1714500"/>
            <a:ext cx="13525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6318" y="1990725"/>
            <a:ext cx="13525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49865" y="1609725"/>
            <a:ext cx="1809705" cy="904875"/>
          </a:xfrm>
          <a:prstGeom prst="rect">
            <a:avLst/>
          </a:prstGeom>
          <a:solidFill>
            <a:srgbClr val="D8F1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178459" y="1819275"/>
            <a:ext cx="13525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/dev/shm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178459" y="2095500"/>
            <a:ext cx="13525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RAM cache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12006" y="1495425"/>
            <a:ext cx="2047824" cy="113347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0131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531075" y="1714500"/>
            <a:ext cx="16096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531075" y="1990725"/>
            <a:ext cx="16096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 jit + XLA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source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12266" y="1343025"/>
            <a:ext cx="2857429" cy="42862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912266" y="1847850"/>
            <a:ext cx="2857429" cy="42862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912266" y="2352675"/>
            <a:ext cx="2857429" cy="42862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784" y="3290889"/>
            <a:ext cx="1219169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1721" y="3614739"/>
            <a:ext cx="40231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1721" y="3890964"/>
            <a:ext cx="40231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Podman/Docker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 + Artifact Registry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35265" y="3614739"/>
            <a:ext cx="40231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335265" y="3890964"/>
            <a:ext cx="40231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· GKE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requests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8435" y="3581404"/>
            <a:ext cx="40231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58435" y="3857629"/>
            <a:ext cx="40231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· CSV · logs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image digests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7684" y="6367462"/>
            <a:ext cx="1089632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684" y="6457949"/>
            <a:ext cx="2949955" cy="311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copied to RAM before timed training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8271" y="6457950"/>
            <a:ext cx="2045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manifests in infra/</a:t>
            </a:r>
            <a:endParaRPr lang="en-US" sz="1150" dirty="0"/>
          </a:p>
        </p:txBody>
      </p:sp>
      <p:sp>
        <p:nvSpPr>
          <p:cNvPr id="25" name="Kicker">
            <a:extLst>
              <a:ext uri="{FF2B5EF4-FFF2-40B4-BE49-F238E27FC236}">
                <a16:creationId xmlns:a16="http://schemas.microsoft.com/office/drawing/2014/main" id="{C2D2250D-27BB-634D-8221-4FB525C7B89D}"/>
              </a:ext>
            </a:extLst>
          </p:cNvPr>
          <p:cNvSpPr txBox="1"/>
          <p:nvPr/>
        </p:nvSpPr>
        <p:spPr>
          <a:xfrm>
            <a:off x="0" y="889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 b="1">
                <a:solidFill>
                  <a:srgbClr val="3D8DFF"/>
                </a:solidFill>
              </a:rPr>
              <a:t>PROPOSAL &amp; SOLUTION</a:t>
            </a:r>
            <a:endParaRPr lang="zh-CN" altLang="en-US" sz="1350" b="1">
              <a:solidFill>
                <a:srgbClr val="3D8DFF"/>
              </a:solidFill>
            </a:endParaRPr>
          </a:p>
        </p:txBody>
      </p:sp>
      <p:sp>
        <p:nvSpPr>
          <p:cNvPr id="26" name="Arrow1">
            <a:extLst>
              <a:ext uri="{FF2B5EF4-FFF2-40B4-BE49-F238E27FC236}">
                <a16:creationId xmlns:a16="http://schemas.microsoft.com/office/drawing/2014/main" id="{C152FE48-9163-1E44-A586-4221CBDBAF44}"/>
              </a:ext>
            </a:extLst>
          </p:cNvPr>
          <p:cNvSpPr txBox="1"/>
          <p:nvPr/>
        </p:nvSpPr>
        <p:spPr>
          <a:xfrm>
            <a:off x="2495224" y="1898650"/>
            <a:ext cx="3175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500" b="1" dirty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7" name="Arrow2">
            <a:extLst>
              <a:ext uri="{FF2B5EF4-FFF2-40B4-BE49-F238E27FC236}">
                <a16:creationId xmlns:a16="http://schemas.microsoft.com/office/drawing/2014/main" id="{DB4D592F-8CF4-5141-A9F6-6A95730D8B7A}"/>
              </a:ext>
            </a:extLst>
          </p:cNvPr>
          <p:cNvSpPr txBox="1"/>
          <p:nvPr/>
        </p:nvSpPr>
        <p:spPr>
          <a:xfrm>
            <a:off x="4819324" y="1898650"/>
            <a:ext cx="2794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500" b="1" dirty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8" name="Arrow3">
            <a:extLst>
              <a:ext uri="{FF2B5EF4-FFF2-40B4-BE49-F238E27FC236}">
                <a16:creationId xmlns:a16="http://schemas.microsoft.com/office/drawing/2014/main" id="{EDED30E1-2D26-0F45-BD75-7BA8C1A7F25F}"/>
              </a:ext>
            </a:extLst>
          </p:cNvPr>
          <p:cNvSpPr txBox="1"/>
          <p:nvPr/>
        </p:nvSpPr>
        <p:spPr>
          <a:xfrm>
            <a:off x="7394924" y="1898650"/>
            <a:ext cx="3175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25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9" name="CpuBackend">
            <a:extLst>
              <a:ext uri="{FF2B5EF4-FFF2-40B4-BE49-F238E27FC236}">
                <a16:creationId xmlns:a16="http://schemas.microsoft.com/office/drawing/2014/main" id="{082F5CBE-332E-D546-9199-BD93E81C8B34}"/>
              </a:ext>
            </a:extLst>
          </p:cNvPr>
          <p:cNvSpPr txBox="1"/>
          <p:nvPr/>
        </p:nvSpPr>
        <p:spPr>
          <a:xfrm>
            <a:off x="8106124" y="146685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50" b="1">
                <a:solidFill>
                  <a:srgbClr val="101318"/>
                </a:solidFill>
              </a:rPr>
              <a:t>Assigned CPU node</a:t>
            </a:r>
            <a:endParaRPr lang="zh-CN" altLang="en-US" sz="1550" b="1">
              <a:solidFill>
                <a:srgbClr val="101318"/>
              </a:solidFill>
            </a:endParaRPr>
          </a:p>
        </p:txBody>
      </p:sp>
      <p:sp>
        <p:nvSpPr>
          <p:cNvPr id="30" name="GpuBackend">
            <a:extLst>
              <a:ext uri="{FF2B5EF4-FFF2-40B4-BE49-F238E27FC236}">
                <a16:creationId xmlns:a16="http://schemas.microsoft.com/office/drawing/2014/main" id="{CD872846-A355-1C4C-856B-0F7697C7BE32}"/>
              </a:ext>
            </a:extLst>
          </p:cNvPr>
          <p:cNvSpPr txBox="1"/>
          <p:nvPr/>
        </p:nvSpPr>
        <p:spPr>
          <a:xfrm>
            <a:off x="8106124" y="197485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50" b="1">
                <a:solidFill>
                  <a:srgbClr val="101318"/>
                </a:solidFill>
              </a:rPr>
              <a:t>1× NVIDIA GH200</a:t>
            </a:r>
            <a:endParaRPr lang="zh-CN" altLang="en-US" sz="1550" b="1">
              <a:solidFill>
                <a:srgbClr val="101318"/>
              </a:solidFill>
            </a:endParaRPr>
          </a:p>
        </p:txBody>
      </p:sp>
      <p:sp>
        <p:nvSpPr>
          <p:cNvPr id="31" name="TpuBackend">
            <a:extLst>
              <a:ext uri="{FF2B5EF4-FFF2-40B4-BE49-F238E27FC236}">
                <a16:creationId xmlns:a16="http://schemas.microsoft.com/office/drawing/2014/main" id="{3B6EDDE8-8B7E-5745-A5FE-7399F44E04F9}"/>
              </a:ext>
            </a:extLst>
          </p:cNvPr>
          <p:cNvSpPr txBox="1"/>
          <p:nvPr/>
        </p:nvSpPr>
        <p:spPr>
          <a:xfrm>
            <a:off x="8106124" y="248285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50" b="1">
                <a:solidFill>
                  <a:srgbClr val="101318"/>
                </a:solidFill>
              </a:rPr>
              <a:t>8× TPU v5e · 2×4</a:t>
            </a:r>
            <a:endParaRPr lang="zh-CN" altLang="en-US" sz="1550" b="1">
              <a:solidFill>
                <a:srgbClr val="1013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08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404" y="407194"/>
            <a:ext cx="12191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Separates Compute from Overhead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24656" y="1635919"/>
            <a:ext cx="1809705" cy="76200"/>
          </a:xfrm>
          <a:prstGeom prst="rect">
            <a:avLst/>
          </a:prstGeom>
          <a:solidFill>
            <a:srgbClr val="B8BC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24656" y="1835944"/>
            <a:ext cx="18097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24656" y="2112169"/>
            <a:ext cx="180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+ preprocess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4361" y="1635919"/>
            <a:ext cx="1809705" cy="76200"/>
          </a:xfrm>
          <a:prstGeom prst="rect">
            <a:avLst/>
          </a:prstGeom>
          <a:solidFill>
            <a:srgbClr val="B8BC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334361" y="1835944"/>
            <a:ext cx="18097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334361" y="2112169"/>
            <a:ext cx="180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→ device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4066" y="1635919"/>
            <a:ext cx="1809705" cy="76200"/>
          </a:xfrm>
          <a:prstGeom prst="rect">
            <a:avLst/>
          </a:prstGeom>
          <a:solidFill>
            <a:srgbClr val="B8BC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144066" y="1835944"/>
            <a:ext cx="18097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44066" y="2112169"/>
            <a:ext cx="180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XLA 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3770" y="1635919"/>
            <a:ext cx="2666933" cy="76200"/>
          </a:xfrm>
          <a:prstGeom prst="rect">
            <a:avLst/>
          </a:prstGeom>
          <a:solidFill>
            <a:srgbClr val="3D8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53770" y="1835944"/>
            <a:ext cx="26669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53770" y="2112169"/>
            <a:ext cx="26669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2,600 synced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20704" y="1635919"/>
            <a:ext cx="1809705" cy="76200"/>
          </a:xfrm>
          <a:prstGeom prst="rect">
            <a:avLst/>
          </a:prstGeom>
          <a:solidFill>
            <a:srgbClr val="B8BC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620704" y="1835944"/>
            <a:ext cx="18097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20704" y="2112169"/>
            <a:ext cx="180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+ AUC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4657" y="2845594"/>
            <a:ext cx="2908092" cy="90487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53250" y="3055144"/>
            <a:ext cx="34440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53250" y="3331369"/>
            <a:ext cx="3444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CPU · affinity · RSS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54534" y="2845594"/>
            <a:ext cx="2651446" cy="904875"/>
          </a:xfrm>
          <a:prstGeom prst="rect">
            <a:avLst/>
          </a:prstGeom>
          <a:solidFill>
            <a:srgbClr val="D8F1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83128" y="3055144"/>
            <a:ext cx="34440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GH200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883128" y="3331369"/>
            <a:ext cx="3444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nvidia-smi / 0.5 s · VRAM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84410" y="2845594"/>
            <a:ext cx="2759601" cy="904875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13005" y="3055144"/>
            <a:ext cx="34440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 v5e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13005" y="3331369"/>
            <a:ext cx="3444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tpu-info / 1 s · duty · HBM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4656" y="4083844"/>
            <a:ext cx="9021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4656" y="4283869"/>
            <a:ext cx="20972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0.059 / 0.035 / 0.037 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24656" y="4569619"/>
            <a:ext cx="1311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GPU / TPU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12395" y="4074319"/>
            <a:ext cx="0" cy="6953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2900" y="4083844"/>
            <a:ext cx="15502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TRANSFER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2900" y="4283869"/>
            <a:ext cx="20972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0.002 / 0.008 / 0.004 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3202900" y="4569619"/>
            <a:ext cx="1311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/ GPU / TPU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590639" y="4074319"/>
            <a:ext cx="0" cy="69532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1144" y="4083844"/>
            <a:ext cx="14248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 HBM CAVEAT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81144" y="4283869"/>
            <a:ext cx="33336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of 15.75 GiB/device reported; treated as a sampling limitation.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7684" y="6367462"/>
            <a:ext cx="1089632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0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684" y="6457949"/>
            <a:ext cx="2785064" cy="195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telemetry in each benchmark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233941" y="6457949"/>
            <a:ext cx="2310070" cy="195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seed · split · batch · epochs</a:t>
            </a:r>
            <a:endParaRPr lang="en-US" sz="1150" dirty="0"/>
          </a:p>
        </p:txBody>
      </p:sp>
      <p:sp>
        <p:nvSpPr>
          <p:cNvPr id="40" name="Kicker">
            <a:extLst>
              <a:ext uri="{FF2B5EF4-FFF2-40B4-BE49-F238E27FC236}">
                <a16:creationId xmlns:a16="http://schemas.microsoft.com/office/drawing/2014/main" id="{B08A56CC-081F-B141-A09D-2DD3771EA83F}"/>
              </a:ext>
            </a:extLst>
          </p:cNvPr>
          <p:cNvSpPr txBox="1"/>
          <p:nvPr/>
        </p:nvSpPr>
        <p:spPr>
          <a:xfrm>
            <a:off x="0" y="889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 b="1">
                <a:solidFill>
                  <a:srgbClr val="3D8DFF"/>
                </a:solidFill>
              </a:rPr>
              <a:t>MEASUREMENTS</a:t>
            </a:r>
            <a:endParaRPr lang="zh-CN" altLang="en-US" sz="1350" b="1">
              <a:solidFill>
                <a:srgbClr val="3D8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91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421" y="479924"/>
            <a:ext cx="12191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Wins; Accelerators Remain Mostly Idle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3257" y="1508058"/>
            <a:ext cx="63396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 seconds · lower is better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119535" y="1908108"/>
            <a:ext cx="1095348" cy="257175"/>
          </a:xfrm>
          <a:prstGeom prst="rect">
            <a:avLst/>
          </a:prstGeom>
          <a:solidFill>
            <a:srgbClr val="3D8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19535" y="2289108"/>
            <a:ext cx="3428914" cy="25717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119535" y="2670108"/>
            <a:ext cx="1562061" cy="257175"/>
          </a:xfrm>
          <a:prstGeom prst="rect">
            <a:avLst/>
          </a:prstGeom>
          <a:solidFill>
            <a:srgbClr val="6DCB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43257" y="3327333"/>
            <a:ext cx="63396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steps/s · higher is better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19535" y="3727383"/>
            <a:ext cx="3428914" cy="257175"/>
          </a:xfrm>
          <a:prstGeom prst="rect">
            <a:avLst/>
          </a:prstGeom>
          <a:solidFill>
            <a:srgbClr val="3D8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119535" y="4108383"/>
            <a:ext cx="1095348" cy="257175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119535" y="4489383"/>
            <a:ext cx="2419290" cy="257175"/>
          </a:xfrm>
          <a:prstGeom prst="rect">
            <a:avLst/>
          </a:prstGeom>
          <a:solidFill>
            <a:srgbClr val="6DCB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801573" y="1504950"/>
            <a:ext cx="0" cy="354330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9227" y="1971675"/>
            <a:ext cx="48899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advantage vs GH200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49227" y="2943225"/>
            <a:ext cx="48899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advantage vs TPU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149227" y="3486150"/>
            <a:ext cx="4889923" cy="742950"/>
          </a:xfrm>
          <a:prstGeom prst="rect">
            <a:avLst/>
          </a:prstGeom>
          <a:solidFill>
            <a:srgbClr val="EDED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39722" y="3648075"/>
            <a:ext cx="450893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GH200: 1% mean / 2% peak · 650 MiB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TPU: 2.50% mean / 30.05% peak · 8 devices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49227" y="4419600"/>
            <a:ext cx="488992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/ AUC: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.860 / .693 · GPU .864 / .623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TPU .859 / .693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7684" y="6367462"/>
            <a:ext cx="1089632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684" y="6457950"/>
            <a:ext cx="1818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200-epoch runs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76384" y="6457950"/>
            <a:ext cx="21676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normalized or invented values</a:t>
            </a:r>
            <a:endParaRPr lang="en-US" sz="1150" dirty="0"/>
          </a:p>
        </p:txBody>
      </p:sp>
      <p:sp>
        <p:nvSpPr>
          <p:cNvPr id="20" name="Kicker">
            <a:extLst>
              <a:ext uri="{FF2B5EF4-FFF2-40B4-BE49-F238E27FC236}">
                <a16:creationId xmlns:a16="http://schemas.microsoft.com/office/drawing/2014/main" id="{2BC52DE9-0CF3-A04A-B1D5-517B6F0E6920}"/>
              </a:ext>
            </a:extLst>
          </p:cNvPr>
          <p:cNvSpPr txBox="1"/>
          <p:nvPr/>
        </p:nvSpPr>
        <p:spPr>
          <a:xfrm>
            <a:off x="0" y="889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 b="1">
                <a:solidFill>
                  <a:srgbClr val="3D8DFF"/>
                </a:solidFill>
              </a:rPr>
              <a:t>RESULTS · HARDWARE COMPARISON</a:t>
            </a:r>
            <a:endParaRPr lang="zh-CN" altLang="en-US" sz="1350" b="1">
              <a:solidFill>
                <a:srgbClr val="3D8DFF"/>
              </a:solidFill>
            </a:endParaRPr>
          </a:p>
        </p:txBody>
      </p:sp>
      <p:sp>
        <p:nvSpPr>
          <p:cNvPr id="21" name="ChartLabel0">
            <a:extLst>
              <a:ext uri="{FF2B5EF4-FFF2-40B4-BE49-F238E27FC236}">
                <a16:creationId xmlns:a16="http://schemas.microsoft.com/office/drawing/2014/main" id="{239140E6-4DE6-3545-9784-B684AB332213}"/>
              </a:ext>
            </a:extLst>
          </p:cNvPr>
          <p:cNvSpPr txBox="1"/>
          <p:nvPr/>
        </p:nvSpPr>
        <p:spPr>
          <a:xfrm>
            <a:off x="306757" y="19081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CPU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2" name="ChartLabel1">
            <a:extLst>
              <a:ext uri="{FF2B5EF4-FFF2-40B4-BE49-F238E27FC236}">
                <a16:creationId xmlns:a16="http://schemas.microsoft.com/office/drawing/2014/main" id="{04DEEBFF-7899-E541-A8EF-799DFA15D93A}"/>
              </a:ext>
            </a:extLst>
          </p:cNvPr>
          <p:cNvSpPr txBox="1"/>
          <p:nvPr/>
        </p:nvSpPr>
        <p:spPr>
          <a:xfrm>
            <a:off x="306757" y="22891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GH200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3" name="ChartLabel2">
            <a:extLst>
              <a:ext uri="{FF2B5EF4-FFF2-40B4-BE49-F238E27FC236}">
                <a16:creationId xmlns:a16="http://schemas.microsoft.com/office/drawing/2014/main" id="{6BE4D0EC-3CB6-9047-81C5-1B17D6125B26}"/>
              </a:ext>
            </a:extLst>
          </p:cNvPr>
          <p:cNvSpPr txBox="1"/>
          <p:nvPr/>
        </p:nvSpPr>
        <p:spPr>
          <a:xfrm>
            <a:off x="306757" y="26701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TPU v5e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4" name="ChartLabel3">
            <a:extLst>
              <a:ext uri="{FF2B5EF4-FFF2-40B4-BE49-F238E27FC236}">
                <a16:creationId xmlns:a16="http://schemas.microsoft.com/office/drawing/2014/main" id="{DFE248D5-AF63-1847-916D-A8CAFCD473E6}"/>
              </a:ext>
            </a:extLst>
          </p:cNvPr>
          <p:cNvSpPr txBox="1"/>
          <p:nvPr/>
        </p:nvSpPr>
        <p:spPr>
          <a:xfrm>
            <a:off x="306757" y="37369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CPU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5" name="ChartLabel4">
            <a:extLst>
              <a:ext uri="{FF2B5EF4-FFF2-40B4-BE49-F238E27FC236}">
                <a16:creationId xmlns:a16="http://schemas.microsoft.com/office/drawing/2014/main" id="{079608D6-8CB6-9F4A-B257-FF7CC9CEFBA2}"/>
              </a:ext>
            </a:extLst>
          </p:cNvPr>
          <p:cNvSpPr txBox="1"/>
          <p:nvPr/>
        </p:nvSpPr>
        <p:spPr>
          <a:xfrm>
            <a:off x="306757" y="41179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GH200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6" name="ChartLabel5">
            <a:extLst>
              <a:ext uri="{FF2B5EF4-FFF2-40B4-BE49-F238E27FC236}">
                <a16:creationId xmlns:a16="http://schemas.microsoft.com/office/drawing/2014/main" id="{AC8FB715-FA91-C848-B7FB-5163B0D665CD}"/>
              </a:ext>
            </a:extLst>
          </p:cNvPr>
          <p:cNvSpPr txBox="1"/>
          <p:nvPr/>
        </p:nvSpPr>
        <p:spPr>
          <a:xfrm>
            <a:off x="306757" y="4498908"/>
            <a:ext cx="698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TPU v5e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7" name="ChartValue0">
            <a:extLst>
              <a:ext uri="{FF2B5EF4-FFF2-40B4-BE49-F238E27FC236}">
                <a16:creationId xmlns:a16="http://schemas.microsoft.com/office/drawing/2014/main" id="{49C2A078-2EE5-1E47-9D32-A948CABF659D}"/>
              </a:ext>
            </a:extLst>
          </p:cNvPr>
          <p:cNvSpPr txBox="1"/>
          <p:nvPr/>
        </p:nvSpPr>
        <p:spPr>
          <a:xfrm>
            <a:off x="3011857" y="19081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4.97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8" name="ChartValue1">
            <a:extLst>
              <a:ext uri="{FF2B5EF4-FFF2-40B4-BE49-F238E27FC236}">
                <a16:creationId xmlns:a16="http://schemas.microsoft.com/office/drawing/2014/main" id="{EE723A50-ED6F-0E43-BB56-95CD11DF19CA}"/>
              </a:ext>
            </a:extLst>
          </p:cNvPr>
          <p:cNvSpPr txBox="1"/>
          <p:nvPr/>
        </p:nvSpPr>
        <p:spPr>
          <a:xfrm>
            <a:off x="6059857" y="22891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15.49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29" name="ChartValue2">
            <a:extLst>
              <a:ext uri="{FF2B5EF4-FFF2-40B4-BE49-F238E27FC236}">
                <a16:creationId xmlns:a16="http://schemas.microsoft.com/office/drawing/2014/main" id="{1B979890-D12F-2040-8B0C-CC7427A4E03B}"/>
              </a:ext>
            </a:extLst>
          </p:cNvPr>
          <p:cNvSpPr txBox="1"/>
          <p:nvPr/>
        </p:nvSpPr>
        <p:spPr>
          <a:xfrm>
            <a:off x="3634157" y="26701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7.04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30" name="ChartValue3">
            <a:extLst>
              <a:ext uri="{FF2B5EF4-FFF2-40B4-BE49-F238E27FC236}">
                <a16:creationId xmlns:a16="http://schemas.microsoft.com/office/drawing/2014/main" id="{1109EFF8-E9C3-B846-98C7-75A4F64EA50B}"/>
              </a:ext>
            </a:extLst>
          </p:cNvPr>
          <p:cNvSpPr txBox="1"/>
          <p:nvPr/>
        </p:nvSpPr>
        <p:spPr>
          <a:xfrm>
            <a:off x="6059857" y="37369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523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31" name="ChartValue4">
            <a:extLst>
              <a:ext uri="{FF2B5EF4-FFF2-40B4-BE49-F238E27FC236}">
                <a16:creationId xmlns:a16="http://schemas.microsoft.com/office/drawing/2014/main" id="{DA25ED5A-D1BB-E54B-B62C-002C7CB1106F}"/>
              </a:ext>
            </a:extLst>
          </p:cNvPr>
          <p:cNvSpPr txBox="1"/>
          <p:nvPr/>
        </p:nvSpPr>
        <p:spPr>
          <a:xfrm>
            <a:off x="3011857" y="41179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168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32" name="ChartValue5">
            <a:extLst>
              <a:ext uri="{FF2B5EF4-FFF2-40B4-BE49-F238E27FC236}">
                <a16:creationId xmlns:a16="http://schemas.microsoft.com/office/drawing/2014/main" id="{55E11705-2B24-FA49-AF62-6CDC5429C39E}"/>
              </a:ext>
            </a:extLst>
          </p:cNvPr>
          <p:cNvSpPr txBox="1"/>
          <p:nvPr/>
        </p:nvSpPr>
        <p:spPr>
          <a:xfrm>
            <a:off x="4777157" y="4498908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01318"/>
                </a:solidFill>
              </a:rPr>
              <a:t>369</a:t>
            </a:r>
            <a:endParaRPr lang="zh-CN" altLang="en-US" sz="1400" b="1">
              <a:solidFill>
                <a:srgbClr val="101318"/>
              </a:solidFill>
            </a:endParaRPr>
          </a:p>
        </p:txBody>
      </p:sp>
      <p:sp>
        <p:nvSpPr>
          <p:cNvPr id="33" name="CpuVsGpu">
            <a:extLst>
              <a:ext uri="{FF2B5EF4-FFF2-40B4-BE49-F238E27FC236}">
                <a16:creationId xmlns:a16="http://schemas.microsoft.com/office/drawing/2014/main" id="{55A2FBF6-50F6-2849-905E-09BEA4568D91}"/>
              </a:ext>
            </a:extLst>
          </p:cNvPr>
          <p:cNvSpPr txBox="1"/>
          <p:nvPr/>
        </p:nvSpPr>
        <p:spPr>
          <a:xfrm>
            <a:off x="7150100" y="14351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3200" b="1">
                <a:solidFill>
                  <a:srgbClr val="3D8DFF"/>
                </a:solidFill>
              </a:rPr>
              <a:t>3.12×</a:t>
            </a:r>
            <a:endParaRPr lang="zh-CN" altLang="en-US" sz="3200" b="1">
              <a:solidFill>
                <a:srgbClr val="3D8DFF"/>
              </a:solidFill>
            </a:endParaRPr>
          </a:p>
        </p:txBody>
      </p:sp>
      <p:sp>
        <p:nvSpPr>
          <p:cNvPr id="34" name="CpuVsTpu">
            <a:extLst>
              <a:ext uri="{FF2B5EF4-FFF2-40B4-BE49-F238E27FC236}">
                <a16:creationId xmlns:a16="http://schemas.microsoft.com/office/drawing/2014/main" id="{F1C5C618-745E-E740-8956-94208877E038}"/>
              </a:ext>
            </a:extLst>
          </p:cNvPr>
          <p:cNvSpPr txBox="1"/>
          <p:nvPr/>
        </p:nvSpPr>
        <p:spPr>
          <a:xfrm>
            <a:off x="7150100" y="2413000"/>
            <a:ext cx="2286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3200" b="1">
                <a:solidFill>
                  <a:srgbClr val="3D8DFF"/>
                </a:solidFill>
              </a:rPr>
              <a:t>1.42×</a:t>
            </a:r>
            <a:endParaRPr lang="zh-CN" altLang="en-US" sz="3200" b="1">
              <a:solidFill>
                <a:srgbClr val="3D8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73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361950"/>
            <a:ext cx="1219169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the Platform Before Scaling the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73044" y="1131093"/>
            <a:ext cx="0" cy="762000"/>
          </a:xfrm>
          <a:prstGeom prst="line">
            <a:avLst/>
          </a:prstGeom>
          <a:solidFill>
            <a:srgbClr val="FFFFFF">
              <a:alpha val="0"/>
            </a:srgbClr>
          </a:solidFill>
          <a:ln w="85725">
            <a:solidFill>
              <a:srgbClr val="3D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0183" y="2159793"/>
            <a:ext cx="646150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5,000-row MLP cannot amortize accelerator dispatch. TPU telemetry showed work only on core 0—not eight-way sharding.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30183" y="3017043"/>
            <a:ext cx="6461509" cy="1114425"/>
          </a:xfrm>
          <a:prstGeom prst="rect">
            <a:avLst/>
          </a:prstGeom>
          <a:solidFill>
            <a:srgbClr val="D8F1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58777" y="3226593"/>
            <a:ext cx="60043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readiness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58777" y="3502818"/>
            <a:ext cx="60043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96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≈ 0.69 is moderate. Tune the threshold using offer cost versus missed-churn loss; monitor calibration and drift.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82508" y="1056910"/>
            <a:ext cx="0" cy="30003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3964" y="1154542"/>
            <a:ext cx="47680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Reconsider accelerators when…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23964" y="1573642"/>
            <a:ext cx="47680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or model width grows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batches become much larger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concurrent jobs fill the device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3964" y="2764267"/>
            <a:ext cx="476803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engineering tests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23964" y="3183367"/>
            <a:ext cx="47680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multi-device sharding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TPU bfloat16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repeated-run confidence intervals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684" y="6367462"/>
            <a:ext cx="1089632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683" y="6457949"/>
            <a:ext cx="3069877" cy="31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workload granularity, not storage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03311" y="6457950"/>
            <a:ext cx="2240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37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this measured workload</a:t>
            </a:r>
            <a:endParaRPr lang="en-US" sz="1150" dirty="0"/>
          </a:p>
        </p:txBody>
      </p:sp>
      <p:sp>
        <p:nvSpPr>
          <p:cNvPr id="16" name="Kicker">
            <a:extLst>
              <a:ext uri="{FF2B5EF4-FFF2-40B4-BE49-F238E27FC236}">
                <a16:creationId xmlns:a16="http://schemas.microsoft.com/office/drawing/2014/main" id="{1E2F6970-7C89-8641-830D-D0801640F53E}"/>
              </a:ext>
            </a:extLst>
          </p:cNvPr>
          <p:cNvSpPr txBox="1"/>
          <p:nvPr/>
        </p:nvSpPr>
        <p:spPr>
          <a:xfrm>
            <a:off x="0" y="88900"/>
            <a:ext cx="228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 b="1">
                <a:solidFill>
                  <a:srgbClr val="3D8DFF"/>
                </a:solidFill>
              </a:rPr>
              <a:t>CONCLUSION</a:t>
            </a:r>
            <a:endParaRPr lang="zh-CN" altLang="en-US" sz="1350" b="1">
              <a:solidFill>
                <a:srgbClr val="3D8DFF"/>
              </a:solidFill>
            </a:endParaRPr>
          </a:p>
        </p:txBody>
      </p:sp>
      <p:sp>
        <p:nvSpPr>
          <p:cNvPr id="17" name="Recommendation">
            <a:extLst>
              <a:ext uri="{FF2B5EF4-FFF2-40B4-BE49-F238E27FC236}">
                <a16:creationId xmlns:a16="http://schemas.microsoft.com/office/drawing/2014/main" id="{EBC37673-76A2-324C-8BDB-75A0487CA496}"/>
              </a:ext>
            </a:extLst>
          </p:cNvPr>
          <p:cNvSpPr txBox="1"/>
          <p:nvPr/>
        </p:nvSpPr>
        <p:spPr>
          <a:xfrm>
            <a:off x="647683" y="1108868"/>
            <a:ext cx="6096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550" b="1">
                <a:solidFill>
                  <a:srgbClr val="101318"/>
                </a:solidFill>
              </a:rPr>
              <a:t>Use the assigned CPU for today’s periodic retraining workload.</a:t>
            </a:r>
            <a:endParaRPr lang="zh-CN" altLang="en-US" sz="2550" b="1">
              <a:solidFill>
                <a:srgbClr val="1013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0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6C19F4-FA26-F14A-82A9-DB16C8A9DFC6}">
  <we:reference id="wa200010215" version="2.0.0.0" store="zh-CN" storeType="OMEX"/>
  <we:alternateReferences>
    <we:reference id="wa200010215" version="2.0.0.0" store="wa200010215" storeType="OMEX"/>
  </we:alternateReferences>
  <we:properties>
    <we:property name="bps.codex_control.document_id" value="&quot;3af568e6-fed5-4ec7-a0b3-e14e97edb1f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</Words>
  <Application>Microsoft Macintosh PowerPoint</Application>
  <PresentationFormat>宽屏</PresentationFormat>
  <Paragraphs>118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</dc:creator>
  <cp:lastModifiedBy>Stephanie</cp:lastModifiedBy>
  <cp:revision>6</cp:revision>
  <dcterms:created xsi:type="dcterms:W3CDTF">2026-08-13T21:27:30Z</dcterms:created>
  <dcterms:modified xsi:type="dcterms:W3CDTF">2026-08-13T22:12:18Z</dcterms:modified>
</cp:coreProperties>
</file>